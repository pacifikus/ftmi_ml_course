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95" r:id="rId2"/>
    <p:sldId id="256" r:id="rId3"/>
    <p:sldId id="257" r:id="rId4"/>
    <p:sldId id="260" r:id="rId5"/>
    <p:sldId id="261" r:id="rId6"/>
    <p:sldId id="302" r:id="rId7"/>
    <p:sldId id="303" r:id="rId8"/>
    <p:sldId id="304" r:id="rId9"/>
    <p:sldId id="306" r:id="rId10"/>
    <p:sldId id="321" r:id="rId11"/>
    <p:sldId id="258" r:id="rId12"/>
    <p:sldId id="262" r:id="rId13"/>
    <p:sldId id="278" r:id="rId14"/>
    <p:sldId id="337" r:id="rId15"/>
    <p:sldId id="338" r:id="rId16"/>
    <p:sldId id="340" r:id="rId17"/>
    <p:sldId id="270" r:id="rId18"/>
    <p:sldId id="277" r:id="rId19"/>
    <p:sldId id="266" r:id="rId20"/>
    <p:sldId id="330" r:id="rId21"/>
    <p:sldId id="328" r:id="rId22"/>
    <p:sldId id="331" r:id="rId23"/>
    <p:sldId id="333" r:id="rId24"/>
    <p:sldId id="332" r:id="rId25"/>
    <p:sldId id="334" r:id="rId26"/>
    <p:sldId id="329" r:id="rId27"/>
    <p:sldId id="335" r:id="rId28"/>
    <p:sldId id="336" r:id="rId29"/>
    <p:sldId id="341" r:id="rId30"/>
    <p:sldId id="343" r:id="rId31"/>
    <p:sldId id="344" r:id="rId32"/>
    <p:sldId id="345" r:id="rId33"/>
    <p:sldId id="272" r:id="rId34"/>
    <p:sldId id="346" r:id="rId35"/>
    <p:sldId id="273" r:id="rId36"/>
    <p:sldId id="293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89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1E2074-33BD-4093-9B78-D53EB3D13198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F0CB47-D796-44F2-AC78-677B9951EF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661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200FE-B73A-D97E-B49D-D1ABB31D2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3873A32-15FA-AD58-3187-E6C224657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42991AC-F9FB-37F1-A311-2926B836E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5986F7-3DE9-7EC5-F1B5-CF99A243AA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F5855-51CA-420B-ACCC-67164FF21952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870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F5855-51CA-420B-ACCC-67164FF21952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727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662BF4-7013-37B5-FD19-F4DAE9704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0021FE3-3513-03B9-C662-AB5EC1EEE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E6CABC-B8CA-B52B-ED57-17E33C79C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4D7B56-42C3-944B-2B44-068464B64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0CAAD1-7958-54AD-106B-55D761A1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126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EA9109-4F86-5089-E4A4-9C5A1EE59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C9E796-96A8-13C0-BBE7-D49D15F6E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E5300D-17C3-5945-62F6-EE0F60DEE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B236DB-D4C1-2470-AA9C-8A2FCD1E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95D05D-F6AC-02B0-7D2C-5105FD44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365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CE9211-E69C-44A4-3A92-564AD5FA8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002166-8723-CF11-E5F9-162DD0AB4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65B37B-FA95-A1DB-530B-9569B485F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61B0BA-FFCB-2512-0F68-B9C62CF5F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B1D30A-0CD8-B10B-8EEC-D1A8010E2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656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870C8-D4C8-3FDF-3983-58E867CBC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F3B98A-1EDD-2519-7538-F67415B6A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189F155-0609-D4EB-224B-3465C9B32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1A7C43-9386-9124-FC5C-AFBC63240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ADCCBED-3C66-47BD-32BC-8D431A8A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B49B0A-0E21-18F0-7AE4-B56DE0C4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9729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876F5B-DEFE-FCD5-05AC-90B6E8FD8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80F4A8-99FB-86ED-2007-00C8F252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CBA10C1-F33A-791E-BB18-8DE3E2BE2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C7E054-D599-6BC3-28C8-02F1C86D0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F42B2C-E766-43A2-03B2-15D64B703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53B19F9-77DF-4CC9-0C62-EC07A641F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BC16E5-03AA-86AD-5041-981629FEC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C1401B5-52A7-EE97-E35C-0E18BB303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109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743338-A7E2-A262-74F5-40A49F53E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64E65E0-A9B4-C480-9F32-770119A7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89BB281-EB2D-1DA0-8F50-E632F0822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AF4B57-6CC3-65F6-ABE1-3BAEF41E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398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12FBC62-172E-3CC7-A284-380018A87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84A74E2-8C1D-81E4-8F63-3445D526D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3BDB03-EB88-223C-642F-D36CAA992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7859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A9DAC5-05E6-AD7D-C60A-890C705BE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3EBFB5-2635-CEB9-65B9-3FC6540CA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B46283-E988-3E58-91A3-1E18922ED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9DBBE8-D995-670C-1580-AE797FB05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1CB45D-F698-F02E-BF25-9D6620075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791D88-3919-2E21-B238-376F35DD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9798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AAFDD0-727B-7362-61F2-5785625C4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DD6CDBE-AD22-ECAC-8A7C-A1CF2664A5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1919CE-3BE3-4340-9FF9-B7FF70182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6DDA1B-268B-F7EB-0177-551E2A656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B1CAD5-1BA4-06CC-3287-D3B71C608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5889E0-5D4E-A47D-FE63-E93BF0BD1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48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9B6E84-E01E-A7BE-7F7C-B863C5814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D1FCB32-2F1F-7783-3F95-5C039856B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2B2B8C-B97D-AA5B-850F-B4ECB4C4C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3AC2AA-9950-B8C9-8E59-A3E244C90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0F3A47-F3AC-F27C-B612-F56C86BC2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470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5047014-9CB3-E9DE-0A25-59C274642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52AD17-96DA-7B1E-2570-A76E00319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460232-0317-9FCF-7BE1-C0443531E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B3EE93-9CA4-87E8-A0C9-7A3037E6B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DB52FD-709C-6CB3-8C1D-69E8D21B3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4331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08E86-9FC6-B231-EF30-FB6447C43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424342-DF15-0D16-9A30-86ED6D0DE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AD6948-5AE3-EA8A-2304-7479C08D88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5C212-0096-4947-A1C7-4E4924B880DB}" type="datetimeFigureOut">
              <a:rPr lang="ru-RU" smtClean="0"/>
              <a:t>18.05.2025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238215-4625-560F-439F-6D2C8DD710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68D13-4E06-146C-807B-B391347FA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3211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ies/redmadrobot/articles/891970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630171" y="2534194"/>
            <a:ext cx="10931658" cy="114013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ru-RU" sz="4400" dirty="0"/>
              <a:t>Поговорим об </a:t>
            </a:r>
            <a:r>
              <a:rPr lang="en-US" sz="4400" dirty="0"/>
              <a:t>LLM</a:t>
            </a:r>
            <a:endParaRPr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 descr="It be like this now : r/datascience">
            <a:extLst>
              <a:ext uri="{FF2B5EF4-FFF2-40B4-BE49-F238E27FC236}">
                <a16:creationId xmlns:a16="http://schemas.microsoft.com/office/drawing/2014/main" id="{3DB80FBB-5811-9678-C392-868783D77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4721" y="392537"/>
            <a:ext cx="4862558" cy="607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09860B-C3E5-E93F-D331-A4D6F5BE2028}"/>
              </a:ext>
            </a:extLst>
          </p:cNvPr>
          <p:cNvSpPr txBox="1"/>
          <p:nvPr/>
        </p:nvSpPr>
        <p:spPr>
          <a:xfrm>
            <a:off x="4476206" y="36924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772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671C76-D8DB-8AD0-859D-F9FA376FC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</a:t>
            </a:r>
            <a:r>
              <a:rPr lang="en-US" dirty="0"/>
              <a:t>NLP</a:t>
            </a:r>
            <a:endParaRPr lang="ru-RU" dirty="0"/>
          </a:p>
        </p:txBody>
      </p:sp>
      <p:pic>
        <p:nvPicPr>
          <p:cNvPr id="1026" name="Picture 2" descr="Natural Language Processing">
            <a:extLst>
              <a:ext uri="{FF2B5EF4-FFF2-40B4-BE49-F238E27FC236}">
                <a16:creationId xmlns:a16="http://schemas.microsoft.com/office/drawing/2014/main" id="{CCDAC3A0-8497-2640-14B9-14B79271497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166" y="1825625"/>
            <a:ext cx="772966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4479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9B7C4D-2A9A-FE7E-00C3-27B957B54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Language Modeling – </a:t>
            </a:r>
            <a:r>
              <a:rPr lang="ru-RU" sz="4000" dirty="0"/>
              <a:t>Языковое моделирование</a:t>
            </a:r>
          </a:p>
        </p:txBody>
      </p:sp>
      <p:pic>
        <p:nvPicPr>
          <p:cNvPr id="3076" name="Picture 4" descr="The basics of Language Modeling. Notes from CS224n lesson 6 and 7. | by  Antonio Lopardo | Medium">
            <a:extLst>
              <a:ext uri="{FF2B5EF4-FFF2-40B4-BE49-F238E27FC236}">
                <a16:creationId xmlns:a16="http://schemas.microsoft.com/office/drawing/2014/main" id="{F6199BD6-F049-D516-686D-E082BACE78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25" y="2198951"/>
            <a:ext cx="5911795" cy="168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Neural Language Models Explained – Ofir Press">
            <a:extLst>
              <a:ext uri="{FF2B5EF4-FFF2-40B4-BE49-F238E27FC236}">
                <a16:creationId xmlns:a16="http://schemas.microsoft.com/office/drawing/2014/main" id="{200442EE-8FEE-1D6E-B96C-0EF01D63C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300" y="4665209"/>
            <a:ext cx="5143500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265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9B7C4D-2A9A-FE7E-00C3-27B957B54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Классический </a:t>
            </a:r>
            <a:r>
              <a:rPr lang="en-US" dirty="0"/>
              <a:t>ML vs </a:t>
            </a:r>
            <a:r>
              <a:rPr lang="ru-RU" dirty="0"/>
              <a:t>Трансформеры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4098" name="Picture 2" descr="Chapter 6 Introduction: Transfer Learning for NLP | Modern Approaches in Natural  Language Processing">
            <a:extLst>
              <a:ext uri="{FF2B5EF4-FFF2-40B4-BE49-F238E27FC236}">
                <a16:creationId xmlns:a16="http://schemas.microsoft.com/office/drawing/2014/main" id="{9D2D62A0-58AD-FF76-6160-6593317D54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115" y="2275214"/>
            <a:ext cx="6111770" cy="3452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265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Encoder-Decoder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825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Трансформеры </a:t>
            </a:r>
            <a:r>
              <a:rPr lang="en-US" dirty="0"/>
              <a:t>– seq2seq </a:t>
            </a:r>
            <a:r>
              <a:rPr lang="ru-RU" dirty="0"/>
              <a:t>модель с архитектурой </a:t>
            </a:r>
            <a:r>
              <a:rPr lang="en-US" dirty="0"/>
              <a:t>Encoder-Decoder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8B056AE-C3BF-023D-76CE-25E8C05DE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068" y="2762864"/>
            <a:ext cx="5726617" cy="3840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752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</a:t>
            </a:r>
            <a:r>
              <a:rPr lang="ru-RU" dirty="0"/>
              <a:t>внутри </a:t>
            </a:r>
            <a:r>
              <a:rPr lang="en-US" dirty="0"/>
              <a:t>Encoder-Decoder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385650" cy="4089085"/>
          </a:xfrm>
        </p:spPr>
        <p:txBody>
          <a:bodyPr>
            <a:normAutofit/>
          </a:bodyPr>
          <a:lstStyle/>
          <a:p>
            <a:r>
              <a:rPr lang="en-US" dirty="0"/>
              <a:t>Encoder </a:t>
            </a:r>
            <a:r>
              <a:rPr lang="ru-RU" dirty="0"/>
              <a:t>состоит из нескольких слоев, каждый из которых является </a:t>
            </a:r>
            <a:r>
              <a:rPr lang="en-US" dirty="0"/>
              <a:t>encoder’</a:t>
            </a:r>
            <a:r>
              <a:rPr lang="ru-RU" dirty="0"/>
              <a:t>ом.</a:t>
            </a:r>
          </a:p>
          <a:p>
            <a:r>
              <a:rPr lang="en-US" dirty="0"/>
              <a:t>Decoder </a:t>
            </a:r>
            <a:r>
              <a:rPr lang="ru-RU" dirty="0"/>
              <a:t>также состоит из нескольких слоев, и на каждый слой </a:t>
            </a:r>
            <a:r>
              <a:rPr lang="en-US" dirty="0"/>
              <a:t>Decoder’</a:t>
            </a:r>
            <a:r>
              <a:rPr lang="ru-RU" dirty="0"/>
              <a:t>а подается одно и то же состояние </a:t>
            </a:r>
            <a:r>
              <a:rPr lang="en-US" dirty="0"/>
              <a:t>Encoder’</a:t>
            </a:r>
            <a:r>
              <a:rPr lang="ru-RU" dirty="0"/>
              <a:t>а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865807-A3B6-EB95-7782-0F887A4C9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188" y="1690688"/>
            <a:ext cx="6098346" cy="422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624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</a:t>
            </a:r>
            <a:r>
              <a:rPr lang="ru-RU" dirty="0"/>
              <a:t>внутри </a:t>
            </a:r>
            <a:r>
              <a:rPr lang="en-US" dirty="0"/>
              <a:t>Encoder-Decoder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385650" cy="4089085"/>
          </a:xfrm>
        </p:spPr>
        <p:txBody>
          <a:bodyPr>
            <a:normAutofit/>
          </a:bodyPr>
          <a:lstStyle/>
          <a:p>
            <a:r>
              <a:rPr lang="ru-RU" dirty="0"/>
              <a:t>Все </a:t>
            </a:r>
            <a:r>
              <a:rPr lang="en-US" dirty="0"/>
              <a:t>Encoder’</a:t>
            </a:r>
            <a:r>
              <a:rPr lang="ru-RU" dirty="0"/>
              <a:t>ы состоят из двух частей – механизма </a:t>
            </a:r>
            <a:r>
              <a:rPr lang="en-US" dirty="0"/>
              <a:t>Self-Attention </a:t>
            </a:r>
            <a:r>
              <a:rPr lang="ru-RU" dirty="0"/>
              <a:t>и </a:t>
            </a:r>
            <a:r>
              <a:rPr lang="ru-RU" dirty="0" err="1"/>
              <a:t>полносвязного</a:t>
            </a:r>
            <a:r>
              <a:rPr lang="ru-RU" dirty="0"/>
              <a:t> слоя </a:t>
            </a:r>
            <a:r>
              <a:rPr lang="en-US" dirty="0"/>
              <a:t>(FFNN)</a:t>
            </a:r>
          </a:p>
          <a:p>
            <a:endParaRPr lang="en-US" dirty="0"/>
          </a:p>
          <a:p>
            <a:r>
              <a:rPr lang="en-US" dirty="0"/>
              <a:t>Decoder’</a:t>
            </a:r>
            <a:r>
              <a:rPr lang="ru-RU" dirty="0"/>
              <a:t>ы имеют еще одну часть – </a:t>
            </a:r>
            <a:r>
              <a:rPr lang="en-US" dirty="0"/>
              <a:t>Encoder-Decoder Attention</a:t>
            </a:r>
          </a:p>
          <a:p>
            <a:endParaRPr lang="en-US" dirty="0"/>
          </a:p>
          <a:p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FC1CA2F-768F-2C83-07C2-8C8220F80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646" y="1690688"/>
            <a:ext cx="5262091" cy="227241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63E2977-44C1-21BB-D175-BE639C04B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778" y="4386695"/>
            <a:ext cx="5867651" cy="180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157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Self-Attention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675360" cy="4089085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По мере обработки каждого слова, </a:t>
            </a:r>
            <a:r>
              <a:rPr lang="en-US" dirty="0"/>
              <a:t>self-attention </a:t>
            </a:r>
            <a:r>
              <a:rPr lang="ru-RU" dirty="0"/>
              <a:t>позволяет модели искать в других позициях входной последовательности «подсказки», которые могут улучшить кодирование этого слова.</a:t>
            </a:r>
          </a:p>
          <a:p>
            <a:r>
              <a:rPr lang="ru-RU" dirty="0"/>
              <a:t>Фактически </a:t>
            </a:r>
            <a:r>
              <a:rPr lang="en-US" dirty="0"/>
              <a:t>Self-Attention – </a:t>
            </a:r>
            <a:r>
              <a:rPr lang="ru-RU" dirty="0"/>
              <a:t>способ встроить «понимание» других релевантных слов в то, которое обрабатывается на текущий момент.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D4060E0-381E-8EC9-2EB2-9C17FE8D1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150" y="1690688"/>
            <a:ext cx="4020111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510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</a:t>
            </a:r>
            <a:r>
              <a:rPr lang="ru-RU" dirty="0"/>
              <a:t> </a:t>
            </a:r>
            <a:r>
              <a:rPr lang="en-US" dirty="0"/>
              <a:t>VS GPT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BCC60115-CE5E-D030-5B69-6B695D3FF8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2" name="Picture 4" descr="BERT (языковая модель) — Викиконспекты">
            <a:extLst>
              <a:ext uri="{FF2B5EF4-FFF2-40B4-BE49-F238E27FC236}">
                <a16:creationId xmlns:a16="http://schemas.microsoft.com/office/drawing/2014/main" id="{BEB591E5-EA67-1DF6-3255-9D4264A28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74902"/>
            <a:ext cx="4635473" cy="401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Generalized Language Models | Lil'Log">
            <a:extLst>
              <a:ext uri="{FF2B5EF4-FFF2-40B4-BE49-F238E27FC236}">
                <a16:creationId xmlns:a16="http://schemas.microsoft.com/office/drawing/2014/main" id="{035D875F-1A80-7FF9-7AC7-53E7C8941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4828" y="1739837"/>
            <a:ext cx="5878980" cy="384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1725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67A208-1F1B-E69C-4F71-6870E4544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трансформеров</a:t>
            </a:r>
          </a:p>
        </p:txBody>
      </p:sp>
      <p:pic>
        <p:nvPicPr>
          <p:cNvPr id="2050" name="Picture 2" descr="Transformer models: an introduction and catalog — 2023 Edition - AI,  software, tech, and people. Not in that order. By X">
            <a:extLst>
              <a:ext uri="{FF2B5EF4-FFF2-40B4-BE49-F238E27FC236}">
                <a16:creationId xmlns:a16="http://schemas.microsoft.com/office/drawing/2014/main" id="{8C67E0BC-3332-3FF4-AC9C-6F7E76665B6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050" y="1825625"/>
            <a:ext cx="897589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AD34D9-9003-869D-E6F3-93CD410FEDE1}"/>
              </a:ext>
            </a:extLst>
          </p:cNvPr>
          <p:cNvSpPr txBox="1"/>
          <p:nvPr/>
        </p:nvSpPr>
        <p:spPr>
          <a:xfrm>
            <a:off x="1608050" y="6308209"/>
            <a:ext cx="2214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Вопрос: Где тут </a:t>
            </a:r>
            <a:r>
              <a:rPr lang="en-US" dirty="0"/>
              <a:t>LLM?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8725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9B7C4D-2A9A-FE7E-00C3-27B957B54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Размеры </a:t>
            </a:r>
            <a:r>
              <a:rPr lang="en-US" dirty="0"/>
              <a:t>LLM</a:t>
            </a:r>
            <a:endParaRPr lang="ru-RU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F6513565-5E44-478D-5EA1-904A22FE5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826591" y="1825625"/>
            <a:ext cx="853881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9152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39B22-5926-CFD5-BEB9-B8D920E8D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устроены </a:t>
            </a:r>
            <a:r>
              <a:rPr lang="en-US" dirty="0"/>
              <a:t>LLM </a:t>
            </a:r>
            <a:r>
              <a:rPr lang="ru-RU" dirty="0"/>
              <a:t>на самом деле?</a:t>
            </a:r>
          </a:p>
        </p:txBody>
      </p:sp>
      <p:pic>
        <p:nvPicPr>
          <p:cNvPr id="1026" name="Picture 2" descr="RLHF: Reinforcement Learning from Human Feedback">
            <a:extLst>
              <a:ext uri="{FF2B5EF4-FFF2-40B4-BE49-F238E27FC236}">
                <a16:creationId xmlns:a16="http://schemas.microsoft.com/office/drawing/2014/main" id="{D2E07A5D-E8D6-D0E1-0E15-C6A5D7345A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9772" y="1642335"/>
            <a:ext cx="5732456" cy="4850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5673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D8194-AE6D-73DC-DA43-C4FFCA8C9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12DFF-12E5-FBA0-6787-6875882AE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обучаются </a:t>
            </a:r>
            <a:r>
              <a:rPr lang="en-US" dirty="0"/>
              <a:t>LLM?</a:t>
            </a:r>
            <a:endParaRPr lang="ru-RU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14BCB91-7B40-B8BD-6EEE-8DBAA555AD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86329"/>
            <a:ext cx="10515600" cy="4029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2499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9F886-A450-2395-80AE-50CCE4B03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D2254F-4975-EA33-7CEC-D8EEA8083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Alignment</a:t>
            </a:r>
            <a:endParaRPr lang="ru-RU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7F0F2A1-8249-95B8-8C40-B8C6069BABF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786" y="1825625"/>
            <a:ext cx="474642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8356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E5B807-1FA5-5F1D-DBC4-04DDB7A4F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Тренды в дообучении и использовании</a:t>
            </a:r>
          </a:p>
        </p:txBody>
      </p:sp>
    </p:spTree>
    <p:extLst>
      <p:ext uri="{BB962C8B-B14F-4D97-AF65-F5344CB8AC3E}">
        <p14:creationId xmlns:p14="http://schemas.microsoft.com/office/powerpoint/2010/main" val="648487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DA4250-1B5A-F170-C94D-6B5118B67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</a:t>
            </a:r>
            <a:endParaRPr lang="ru-RU" dirty="0"/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AD276314-8DDA-D4A8-621C-603939BC36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794" y="1825625"/>
            <a:ext cx="650841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8806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DA4250-1B5A-F170-C94D-6B5118B67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</a:t>
            </a:r>
            <a:r>
              <a:rPr lang="ru-RU" dirty="0"/>
              <a:t> - хаки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7220BB-A159-14E3-724C-63EFB8414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72A"/>
                </a:solidFill>
                <a:effectLst/>
                <a:latin typeface="ui-monospace"/>
              </a:rPr>
              <a:t>Instruction-Following</a:t>
            </a:r>
            <a:r>
              <a:rPr lang="en-US" b="0" i="0" dirty="0">
                <a:solidFill>
                  <a:srgbClr val="22272A"/>
                </a:solidFill>
                <a:effectLst/>
                <a:latin typeface="ui-monospace"/>
              </a:rPr>
              <a:t>. </a:t>
            </a:r>
            <a:r>
              <a:rPr lang="ru-RU" b="0" i="0" dirty="0">
                <a:solidFill>
                  <a:srgbClr val="22272A"/>
                </a:solidFill>
                <a:effectLst/>
                <a:latin typeface="ui-monospace"/>
              </a:rPr>
              <a:t>Предоставление инструкции перед задачей.</a:t>
            </a:r>
            <a:endParaRPr lang="en-US" b="0" i="0" dirty="0">
              <a:solidFill>
                <a:srgbClr val="22272A"/>
              </a:solidFill>
              <a:effectLst/>
              <a:latin typeface="ui-monospac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22272A"/>
                </a:solidFill>
                <a:effectLst/>
                <a:latin typeface="ui-monospace"/>
              </a:rPr>
              <a:t>Chain-of-Thought</a:t>
            </a:r>
            <a:r>
              <a:rPr lang="en-US" b="0" i="0" dirty="0">
                <a:solidFill>
                  <a:srgbClr val="22272A"/>
                </a:solidFill>
                <a:effectLst/>
                <a:latin typeface="ui-monospace"/>
              </a:rPr>
              <a:t>. </a:t>
            </a:r>
            <a:r>
              <a:rPr lang="ru-RU" b="0" i="0" dirty="0">
                <a:solidFill>
                  <a:srgbClr val="22272A"/>
                </a:solidFill>
                <a:effectLst/>
                <a:latin typeface="ui-monospace"/>
              </a:rPr>
              <a:t>Разбиения мыслительного процесса на ряд промежуточных шагов.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72A"/>
                </a:solidFill>
                <a:effectLst/>
                <a:latin typeface="ui-monospace"/>
              </a:rPr>
              <a:t>Impersonation</a:t>
            </a:r>
            <a:r>
              <a:rPr lang="en-US" b="0" i="0" dirty="0">
                <a:solidFill>
                  <a:srgbClr val="22272A"/>
                </a:solidFill>
                <a:effectLst/>
                <a:latin typeface="ui-monospace"/>
              </a:rPr>
              <a:t>. </a:t>
            </a:r>
            <a:r>
              <a:rPr lang="ru-RU" b="0" i="0" dirty="0">
                <a:solidFill>
                  <a:srgbClr val="22272A"/>
                </a:solidFill>
                <a:effectLst/>
                <a:latin typeface="ui-monospace"/>
              </a:rPr>
              <a:t>Попросить LLM выдавать себя за эксперта в предметной области при ответе на вопрос, специфичный для предметной области</a:t>
            </a:r>
            <a:r>
              <a:rPr lang="en-US" b="0" i="0" dirty="0">
                <a:solidFill>
                  <a:srgbClr val="22272A"/>
                </a:solidFill>
                <a:effectLst/>
                <a:latin typeface="ui-monospace"/>
              </a:rPr>
              <a:t>.</a:t>
            </a:r>
            <a:endParaRPr lang="ru-RU" b="0" i="0" dirty="0">
              <a:solidFill>
                <a:srgbClr val="22272A"/>
              </a:solidFill>
              <a:effectLst/>
              <a:latin typeface="ui-monospac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2272A"/>
                </a:solidFill>
                <a:effectLst/>
                <a:latin typeface="ui-monospace"/>
              </a:rPr>
              <a:t>Chaining</a:t>
            </a:r>
            <a:r>
              <a:rPr lang="en-US" dirty="0">
                <a:solidFill>
                  <a:srgbClr val="22272A"/>
                </a:solidFill>
                <a:latin typeface="ui-monospace"/>
              </a:rPr>
              <a:t>. </a:t>
            </a:r>
            <a:r>
              <a:rPr lang="ru-RU" dirty="0">
                <a:solidFill>
                  <a:srgbClr val="22272A"/>
                </a:solidFill>
                <a:latin typeface="ui-monospace"/>
              </a:rPr>
              <a:t>Разбить задачу на цепочку маленьких более понятных.</a:t>
            </a:r>
            <a:endParaRPr lang="en-US" b="0" i="0" dirty="0">
              <a:solidFill>
                <a:srgbClr val="22272A"/>
              </a:solidFill>
              <a:effectLst/>
              <a:latin typeface="ui-monospace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5245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FB3DA5-DA28-98D1-2CD3-4094A5722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Zero-Shot vs Few-Shot</a:t>
            </a:r>
            <a:endParaRPr lang="ru-RU" dirty="0"/>
          </a:p>
        </p:txBody>
      </p:sp>
      <p:pic>
        <p:nvPicPr>
          <p:cNvPr id="11266" name="Picture 2" descr="few-shot-prompt">
            <a:extLst>
              <a:ext uri="{FF2B5EF4-FFF2-40B4-BE49-F238E27FC236}">
                <a16:creationId xmlns:a16="http://schemas.microsoft.com/office/drawing/2014/main" id="{7DEE3C0C-0093-866F-AAB7-7D72F1CAC98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477" y="3513341"/>
            <a:ext cx="5734050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65F882-F78C-1977-5A99-7ADB3B595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8919" y="1945803"/>
            <a:ext cx="4763165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296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0AC95-C1C6-5CA0-9A4C-D7E2CEDFD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ADA75F-4888-9654-F7B5-221413EF5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05507D5-EC0A-0741-B1DC-F9F80CBA0D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967" y="2129370"/>
            <a:ext cx="9250066" cy="3743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0193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F890CA-FD62-F152-5267-99B03EF1A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PEFT</a:t>
            </a:r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700E8A46-EEB9-4710-BA8D-4C04926E16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186913" y="2255520"/>
            <a:ext cx="7818173" cy="3097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9612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FCC91-77BD-1857-FDDE-746C8BA57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C55BC-6C55-2940-5912-370DDD7C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PEFT – LP-FT</a:t>
            </a:r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E71BCEC-050A-3251-4055-E9549F539F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144" y="1825625"/>
            <a:ext cx="773571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7607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5376B-4366-5E53-557E-57286AA66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7CC075-2CDB-9FF7-FDC9-92B9B81E3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PEFT – Prompt Tuning</a:t>
            </a:r>
            <a:endParaRPr lang="ru-RU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1DC5253-F5DC-2118-120D-3D55CDC00C6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651194"/>
            <a:ext cx="975360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2940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06742-FACC-4DFD-2420-5C1F2A314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9E0059-BD9D-642D-7BF2-613C8284D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PEFT – Prompt Tuning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A95C74-8523-1744-78CA-6C8DA3AE6A5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447" y="1690688"/>
            <a:ext cx="5823198" cy="2574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C08EB6B5-A572-E3CA-4499-8EAE8F456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514" y="3683726"/>
            <a:ext cx="5613485" cy="2972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8278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5DB66-C321-52A2-7B80-871099EE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32947A-08E8-98E7-E5BB-9628FBA83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PEFT – Prefix Tuning</a:t>
            </a:r>
            <a:endParaRPr lang="ru-RU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D834DA5-2305-F5E4-6263-261B31A29B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014" y="1520825"/>
            <a:ext cx="4690075" cy="2467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AF9E77DD-E38A-8F64-D222-B8453AD6E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047" y="1001485"/>
            <a:ext cx="6251953" cy="3688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5080AEF-D1BF-93A2-63AF-202EFAE6D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76" y="4146550"/>
            <a:ext cx="47815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1899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AC19B-6277-6C30-F414-9049CF390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BCD730-827A-3104-9BE8-A09547AA2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PEFT - </a:t>
            </a:r>
            <a:r>
              <a:rPr lang="en-US" dirty="0" err="1"/>
              <a:t>LoRA</a:t>
            </a:r>
            <a:endParaRPr lang="ru-RU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237AD62-4872-939F-C595-8A788EEF12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836" y="1825625"/>
            <a:ext cx="1036032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7273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8AE65-378E-E1B4-A6D6-4AE2D3F6F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</a:t>
            </a:r>
            <a:endParaRPr lang="ru-RU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AA8798E-1DCC-A70B-8854-FECF4AB9A70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02" y="1789921"/>
            <a:ext cx="4549815" cy="238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4482C720-00AA-B1C1-DED5-CD821F506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3087" y="4032750"/>
            <a:ext cx="8572500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0287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5A3F8-0E20-E9CC-1898-FB59BA41F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14BF9-8825-0B57-44A5-DA91A9F66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Улучшаем </a:t>
            </a:r>
            <a:r>
              <a:rPr lang="en-US" dirty="0"/>
              <a:t>RAG</a:t>
            </a:r>
            <a:endParaRPr lang="ru-RU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508B5DE-0805-2FB8-B3BA-DC8648F41A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803" y="577242"/>
            <a:ext cx="4686954" cy="271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1AC07895-6657-4279-426E-9584F7CB2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3565754"/>
            <a:ext cx="10287000" cy="320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8059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67503-582E-AF38-2819-B2A1DF348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5E9961-8F67-8965-33CF-79C199067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Тренды в ИИ сегодня</a:t>
            </a:r>
          </a:p>
        </p:txBody>
      </p:sp>
    </p:spTree>
    <p:extLst>
      <p:ext uri="{BB962C8B-B14F-4D97-AF65-F5344CB8AC3E}">
        <p14:creationId xmlns:p14="http://schemas.microsoft.com/office/powerpoint/2010/main" val="36078083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CDCCAC-26CA-2283-EC8B-925AC71E2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ИИ работает за нас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D9E7CF-A5F9-F61C-2217-E7B03622F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6651" y="1613189"/>
            <a:ext cx="5137149" cy="4351338"/>
          </a:xfrm>
        </p:spPr>
        <p:txBody>
          <a:bodyPr/>
          <a:lstStyle/>
          <a:p>
            <a:r>
              <a:rPr lang="ru-RU" dirty="0"/>
              <a:t>Программирование</a:t>
            </a:r>
          </a:p>
          <a:p>
            <a:r>
              <a:rPr lang="ru-RU" dirty="0"/>
              <a:t>Генерация контента</a:t>
            </a:r>
          </a:p>
          <a:p>
            <a:r>
              <a:rPr lang="ru-RU" dirty="0"/>
              <a:t>Автоматизация бизнес-задач*</a:t>
            </a:r>
          </a:p>
          <a:p>
            <a:endParaRPr lang="ru-RU" dirty="0"/>
          </a:p>
        </p:txBody>
      </p:sp>
      <p:pic>
        <p:nvPicPr>
          <p:cNvPr id="1026" name="Picture 2" descr="вкалывают роботы, а не человек... | Пикабу">
            <a:extLst>
              <a:ext uri="{FF2B5EF4-FFF2-40B4-BE49-F238E27FC236}">
                <a16:creationId xmlns:a16="http://schemas.microsoft.com/office/drawing/2014/main" id="{C32BD8ED-C0C9-433D-7843-0A6978B0A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48" y="1790299"/>
            <a:ext cx="4433176" cy="27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4F3028-884F-48AF-6C81-6ADCBEF8A61A}"/>
              </a:ext>
            </a:extLst>
          </p:cNvPr>
          <p:cNvSpPr txBox="1"/>
          <p:nvPr/>
        </p:nvSpPr>
        <p:spPr>
          <a:xfrm>
            <a:off x="548640" y="6343048"/>
            <a:ext cx="3821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* Как на уровне </a:t>
            </a:r>
            <a:r>
              <a:rPr lang="en-US" dirty="0"/>
              <a:t>ML-</a:t>
            </a:r>
            <a:r>
              <a:rPr lang="ru-RU" dirty="0"/>
              <a:t>методов</a:t>
            </a:r>
            <a:r>
              <a:rPr lang="en-US" dirty="0"/>
              <a:t>, </a:t>
            </a:r>
            <a:r>
              <a:rPr lang="ru-RU" dirty="0"/>
              <a:t>так и </a:t>
            </a:r>
            <a:r>
              <a:rPr lang="en-US" dirty="0"/>
              <a:t>AI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27780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6E163-4351-FBBC-A219-F62CD3CAB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C346D3-9E8F-9FEE-174F-906CE7A39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Агентный</a:t>
            </a:r>
            <a:r>
              <a:rPr lang="ru-RU" dirty="0"/>
              <a:t> 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854171-863E-A22F-0E70-001D1EEF4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Автономный ИИ может планировать и предпринимать действия для достижения целей, поставленных пользователем.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Преимущества для бизнеса: виртуальная рабочая сила агентов, помогающая, разгружающая и дополняющая работу людей или традиционных приложений.</a:t>
            </a:r>
          </a:p>
          <a:p>
            <a:r>
              <a:rPr lang="ru-RU" dirty="0"/>
              <a:t>Проблемы: Требуются надежные ограждения для обеспечения соответствия намерениям поставщиков и пользователей.</a:t>
            </a:r>
          </a:p>
        </p:txBody>
      </p:sp>
      <p:pic>
        <p:nvPicPr>
          <p:cNvPr id="5122" name="Picture 2" descr="Что такое составные системы ИИ и агенты ИИ? — Azure Databricks | Microsoft  Learn">
            <a:extLst>
              <a:ext uri="{FF2B5EF4-FFF2-40B4-BE49-F238E27FC236}">
                <a16:creationId xmlns:a16="http://schemas.microsoft.com/office/drawing/2014/main" id="{9C242020-4A5E-3F82-DF8B-DAC253033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6087" y="2781733"/>
            <a:ext cx="6219825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07511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14059-A082-E666-06EF-53647D4DA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001940-8EFC-EEF6-2647-797E2757B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Research – </a:t>
            </a:r>
            <a:r>
              <a:rPr lang="ru-RU" dirty="0"/>
              <a:t>рассуждающие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4B8B93-C85D-1859-7940-22E6EE8DB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По сути, это ИИ-агент, который помогает пользователям проводить глубокие и сложные исследования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Примеры задач*:</a:t>
            </a:r>
          </a:p>
          <a:p>
            <a:r>
              <a:rPr lang="ru-RU" dirty="0"/>
              <a:t> Спрогнозировать курс биткоина с учётом </a:t>
            </a:r>
            <a:r>
              <a:rPr lang="ru-RU" dirty="0" err="1"/>
              <a:t>ончейн</a:t>
            </a:r>
            <a:r>
              <a:rPr lang="ru-RU" dirty="0"/>
              <a:t>-аналитики и макроэкономических факторов</a:t>
            </a:r>
          </a:p>
          <a:p>
            <a:r>
              <a:rPr lang="ru-RU" dirty="0"/>
              <a:t>Предложить лучшие SAST-анализаторы на 2025 год, оценив их на основе CVE-баз данных</a:t>
            </a:r>
          </a:p>
          <a:p>
            <a:r>
              <a:rPr lang="ru-RU" dirty="0"/>
              <a:t>Уточнить бюджет проекта ITER и провести сравнительный анализ с аналогичными инициативами</a:t>
            </a:r>
          </a:p>
          <a:p>
            <a:r>
              <a:rPr lang="ru-RU" dirty="0"/>
              <a:t>Найти перспективные AI-стартапы с инвестициями уровня </a:t>
            </a:r>
            <a:r>
              <a:rPr lang="ru-RU" dirty="0" err="1"/>
              <a:t>seed</a:t>
            </a:r>
            <a:r>
              <a:rPr lang="ru-RU" dirty="0"/>
              <a:t> и </a:t>
            </a:r>
            <a:r>
              <a:rPr lang="ru-RU" dirty="0" err="1"/>
              <a:t>series</a:t>
            </a:r>
            <a:r>
              <a:rPr lang="ru-RU" dirty="0"/>
              <a:t> A</a:t>
            </a:r>
          </a:p>
          <a:p>
            <a:r>
              <a:rPr lang="ru-RU" dirty="0"/>
              <a:t>Проанализировать адаптивные интерфейсы с AI-функциями, выявив основные UX-подходы</a:t>
            </a:r>
            <a:endParaRPr lang="en-US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0C848B-971A-2AA8-D832-AE47B9253547}"/>
              </a:ext>
            </a:extLst>
          </p:cNvPr>
          <p:cNvSpPr txBox="1"/>
          <p:nvPr/>
        </p:nvSpPr>
        <p:spPr>
          <a:xfrm>
            <a:off x="462013" y="6492875"/>
            <a:ext cx="8171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* На основе статьи - </a:t>
            </a:r>
            <a:r>
              <a:rPr lang="en-US" dirty="0">
                <a:hlinkClick r:id="rId3"/>
              </a:rPr>
              <a:t>https://habr.com/ru/companies/redmadrobot/articles/891970/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72509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AE061-B7D2-C213-8989-52380EADD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F4075D-3923-E5D5-F65D-9E1307250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ИИ в науке – </a:t>
            </a:r>
            <a:r>
              <a:rPr lang="en-US" dirty="0"/>
              <a:t>Sakana AI scientist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F9B8A0-C44C-40BE-560B-43EB4F495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Исследователи автоматически сгенерировали 10 статей, отобрали из них 3 хороших, а потом подали на один из воркшопов ICLR</a:t>
            </a:r>
          </a:p>
          <a:p>
            <a:r>
              <a:rPr lang="ru-RU" dirty="0"/>
              <a:t>Модель выдвинула гипотезы, подготовила код, запустила, собрала статистику и написала текст статей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79D203C-0EF9-73DD-9FBD-655FD9CD1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854" y="3677126"/>
            <a:ext cx="4084292" cy="249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2546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F4FBD-07B5-DF8E-146A-170D0EE17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4974A9-99F2-038C-2A20-7E8295B0C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Энергоэффективные вычисления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B76B2E-DB71-38AD-727C-E126FACF2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53866"/>
          </a:xfrm>
        </p:spPr>
        <p:txBody>
          <a:bodyPr>
            <a:normAutofit fontScale="85000" lnSpcReduction="20000"/>
          </a:bodyPr>
          <a:lstStyle/>
          <a:p>
            <a:r>
              <a:rPr lang="ru-RU" sz="2000" dirty="0"/>
              <a:t>Разработка подходов к повышению эффективности за счет </a:t>
            </a:r>
          </a:p>
          <a:p>
            <a:pPr lvl="1"/>
            <a:r>
              <a:rPr lang="ru-RU" sz="1800" dirty="0"/>
              <a:t>более эффективной архитектуры, </a:t>
            </a:r>
          </a:p>
          <a:p>
            <a:pPr lvl="1"/>
            <a:r>
              <a:rPr lang="ru-RU" sz="1800" dirty="0"/>
              <a:t>кода и алгоритмов; аппаратного обеспечения; </a:t>
            </a:r>
          </a:p>
          <a:p>
            <a:pPr lvl="1"/>
            <a:r>
              <a:rPr lang="ru-RU" sz="1800" dirty="0"/>
              <a:t>использования возобновляемой энергии для работы систем.</a:t>
            </a:r>
          </a:p>
          <a:p>
            <a:pPr lvl="1"/>
            <a:endParaRPr lang="ru-RU" sz="1800" dirty="0"/>
          </a:p>
          <a:p>
            <a:pPr lvl="1"/>
            <a:endParaRPr lang="ru-RU" sz="1800" dirty="0"/>
          </a:p>
          <a:p>
            <a:pPr lvl="1"/>
            <a:endParaRPr lang="ru-RU" sz="1800" dirty="0"/>
          </a:p>
          <a:p>
            <a:pPr lvl="1"/>
            <a:endParaRPr lang="ru-RU" sz="1800" dirty="0"/>
          </a:p>
          <a:p>
            <a:pPr lvl="1"/>
            <a:endParaRPr lang="ru-RU" sz="1800" dirty="0"/>
          </a:p>
          <a:p>
            <a:pPr lvl="1"/>
            <a:endParaRPr lang="ru-RU" sz="1800" dirty="0"/>
          </a:p>
          <a:p>
            <a:pPr lvl="1"/>
            <a:endParaRPr lang="ru-RU" sz="1800" dirty="0"/>
          </a:p>
          <a:p>
            <a:pPr lvl="1"/>
            <a:endParaRPr lang="ru-RU" sz="1800" dirty="0"/>
          </a:p>
          <a:p>
            <a:pPr lvl="1"/>
            <a:endParaRPr lang="ru-RU" sz="1800" dirty="0"/>
          </a:p>
          <a:p>
            <a:pPr lvl="1"/>
            <a:endParaRPr lang="ru-RU" sz="1800" dirty="0"/>
          </a:p>
          <a:p>
            <a:pPr lvl="1"/>
            <a:endParaRPr lang="ru-RU" sz="1800" dirty="0"/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endParaRPr lang="ru-RU" sz="2200" dirty="0"/>
          </a:p>
          <a:p>
            <a:pPr marL="0" indent="0">
              <a:buNone/>
            </a:pPr>
            <a:endParaRPr lang="ru-RU" sz="1900" dirty="0"/>
          </a:p>
          <a:p>
            <a:pPr marL="0" indent="0">
              <a:buNone/>
            </a:pPr>
            <a:r>
              <a:rPr lang="ru-RU" sz="1900" dirty="0"/>
              <a:t>Обучение большой языковой модели GPT-3, по оценкам специалистов, требует энергопотребления на уровне 1 300 МВтч — это примерно столько же энергии, сколько расходуют 130 частных домов за весь год.</a:t>
            </a:r>
          </a:p>
          <a:p>
            <a:endParaRPr lang="ru-RU" sz="2000" dirty="0"/>
          </a:p>
        </p:txBody>
      </p:sp>
      <p:sp>
        <p:nvSpPr>
          <p:cNvPr id="4" name="AutoShape 2" descr="Сколько электроэнергии потребляет искусственный интеллект">
            <a:extLst>
              <a:ext uri="{FF2B5EF4-FFF2-40B4-BE49-F238E27FC236}">
                <a16:creationId xmlns:a16="http://schemas.microsoft.com/office/drawing/2014/main" id="{5646E56D-1E41-DBF4-2436-49EB4B4A2F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BF75BE60-959B-2E75-41A1-7DFAEC73BA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37F726B-4A99-6290-BA10-27512E168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292" y="2772435"/>
            <a:ext cx="5827415" cy="306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8550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29E75-B9AF-4AEB-67F5-F5246D908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Этика 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44CC59-6455-5A1D-001E-8B9E2B808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 основе каких данных можно обучать генеративные модели? </a:t>
            </a:r>
          </a:p>
          <a:p>
            <a:r>
              <a:rPr lang="ru-RU" dirty="0"/>
              <a:t>Кого считать автором произведения ― ChatGPT или человека, который создал запрос?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Предвзятость алгоритмов</a:t>
            </a:r>
          </a:p>
          <a:p>
            <a:r>
              <a:rPr lang="ru-RU" dirty="0"/>
              <a:t>Приватность</a:t>
            </a:r>
          </a:p>
        </p:txBody>
      </p:sp>
    </p:spTree>
    <p:extLst>
      <p:ext uri="{BB962C8B-B14F-4D97-AF65-F5344CB8AC3E}">
        <p14:creationId xmlns:p14="http://schemas.microsoft.com/office/powerpoint/2010/main" val="846351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43F6C-562F-8BFD-1108-BEFBF2FE1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3AF920-BCAA-FB2B-45E7-A35182DD7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Безопасность и </a:t>
            </a:r>
            <a:r>
              <a:rPr lang="en-US" dirty="0" err="1"/>
              <a:t>MLSecOps</a:t>
            </a:r>
            <a:endParaRPr lang="ru-RU" dirty="0"/>
          </a:p>
        </p:txBody>
      </p:sp>
      <p:pic>
        <p:nvPicPr>
          <p:cNvPr id="4" name="Picture 2" descr="🕵 Что такое Топ-10 OWASP и какие уязвимости веб-приложений наиболее опасны?">
            <a:extLst>
              <a:ext uri="{FF2B5EF4-FFF2-40B4-BE49-F238E27FC236}">
                <a16:creationId xmlns:a16="http://schemas.microsoft.com/office/drawing/2014/main" id="{7A22E5E4-33BD-7755-C72A-9011AED8C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3872" y="79304"/>
            <a:ext cx="1805708" cy="902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8FB020B8-B458-CAC4-013C-49A15AE30D0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182" y="1267979"/>
            <a:ext cx="9559636" cy="5377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42519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</TotalTime>
  <Words>553</Words>
  <Application>Microsoft Office PowerPoint</Application>
  <PresentationFormat>Широкоэкранный</PresentationFormat>
  <Paragraphs>99</Paragraphs>
  <Slides>36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ui-monospace</vt:lpstr>
      <vt:lpstr>Тема Office</vt:lpstr>
      <vt:lpstr>Поговорим об LLM</vt:lpstr>
      <vt:lpstr>Презентация PowerPoint</vt:lpstr>
      <vt:lpstr>Эволюция NLP</vt:lpstr>
      <vt:lpstr>Language Modeling – Языковое моделирование</vt:lpstr>
      <vt:lpstr>Классический ML vs Трансформеры </vt:lpstr>
      <vt:lpstr>Трансформеры – Encoder-Decoder</vt:lpstr>
      <vt:lpstr>Трансформеры – внутри Encoder-Decoder</vt:lpstr>
      <vt:lpstr>Трансформеры – внутри Encoder-Decoder</vt:lpstr>
      <vt:lpstr>Трансформеры – Self-Attention</vt:lpstr>
      <vt:lpstr>BERT VS GPT</vt:lpstr>
      <vt:lpstr>Эволюция трансформеров</vt:lpstr>
      <vt:lpstr>Размеры LLM</vt:lpstr>
      <vt:lpstr>Как устроены LLM на самом деле?</vt:lpstr>
      <vt:lpstr>Как обучаются LLM?</vt:lpstr>
      <vt:lpstr>Alignment</vt:lpstr>
      <vt:lpstr>Тренды в дообучении и использовании</vt:lpstr>
      <vt:lpstr>Prompt Engineering</vt:lpstr>
      <vt:lpstr>Prompt Engineering - хаки</vt:lpstr>
      <vt:lpstr>Zero-Shot vs Few-Shot</vt:lpstr>
      <vt:lpstr>Linear Probing</vt:lpstr>
      <vt:lpstr>PEFT</vt:lpstr>
      <vt:lpstr>PEFT – LP-FT</vt:lpstr>
      <vt:lpstr>PEFT – Prompt Tuning</vt:lpstr>
      <vt:lpstr>PEFT – Prompt Tuning</vt:lpstr>
      <vt:lpstr>PEFT – Prefix Tuning</vt:lpstr>
      <vt:lpstr>PEFT - LoRA</vt:lpstr>
      <vt:lpstr>RAG</vt:lpstr>
      <vt:lpstr>Улучшаем RAG</vt:lpstr>
      <vt:lpstr>Тренды в ИИ сегодня</vt:lpstr>
      <vt:lpstr>ИИ работает за нас</vt:lpstr>
      <vt:lpstr>Агентный ИИ</vt:lpstr>
      <vt:lpstr>Deep Research – рассуждающие модели</vt:lpstr>
      <vt:lpstr>ИИ в науке – Sakana AI scientist</vt:lpstr>
      <vt:lpstr>Энергоэффективные вычисления </vt:lpstr>
      <vt:lpstr>Этика ИИ</vt:lpstr>
      <vt:lpstr>Безопасность и MLSecOps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Кристина Желтова</dc:creator>
  <cp:lastModifiedBy>Кристина Желтова</cp:lastModifiedBy>
  <cp:revision>43</cp:revision>
  <dcterms:created xsi:type="dcterms:W3CDTF">2023-12-06T20:15:28Z</dcterms:created>
  <dcterms:modified xsi:type="dcterms:W3CDTF">2025-05-17T19:50:39Z</dcterms:modified>
</cp:coreProperties>
</file>