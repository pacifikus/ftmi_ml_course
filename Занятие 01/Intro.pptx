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63" r:id="rId3"/>
    <p:sldId id="285" r:id="rId4"/>
    <p:sldId id="286" r:id="rId5"/>
    <p:sldId id="287" r:id="rId6"/>
    <p:sldId id="288" r:id="rId7"/>
    <p:sldId id="289" r:id="rId8"/>
    <p:sldId id="292" r:id="rId9"/>
    <p:sldId id="293" r:id="rId10"/>
    <p:sldId id="294" r:id="rId11"/>
    <p:sldId id="295" r:id="rId12"/>
    <p:sldId id="296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Кристина Желтова" initials="КЖ" lastIdx="1" clrIdx="0">
    <p:extLst>
      <p:ext uri="{19B8F6BF-5375-455C-9EA6-DF929625EA0E}">
        <p15:presenceInfo xmlns:p15="http://schemas.microsoft.com/office/powerpoint/2012/main" userId="e393ba5682dd518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8088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14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1824A0-EC7F-4813-A3E7-82F7E7F5E905}" type="datetimeFigureOut">
              <a:rPr lang="ru-RU" smtClean="0"/>
              <a:t>13.10.2025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48B55A-CABE-4C0C-8FF5-83437BB90D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1272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FA3869-2954-8DE5-1173-EA6A36B51B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39E1B0A-93EE-5098-4C31-1B428DA6A4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A953EDE-9EB5-6403-C13D-74E46AEEF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87071-E7D1-4F0D-90F4-41EE461A2EB9}" type="datetimeFigureOut">
              <a:rPr lang="ru-RU" smtClean="0"/>
              <a:t>13.10.2025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1938530-CD4C-321A-2C6F-192A5DD11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850CA22-EC29-0938-80C4-A39829474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E335D-A824-47A9-8D1F-31F4C91D8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41392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6E3112-94BE-A1D4-CC93-EFD9CDBA6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FE149E3-6C1C-9EBB-FE4C-60C45DD6A3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52761EA-2BB0-5E10-18F3-F184501EB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87071-E7D1-4F0D-90F4-41EE461A2EB9}" type="datetimeFigureOut">
              <a:rPr lang="ru-RU" smtClean="0"/>
              <a:t>13.10.2025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6F8D7B8-DCB8-6932-1BE0-BE8AECC2FF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5A6181A-180F-39E2-3FA2-B436237EC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E335D-A824-47A9-8D1F-31F4C91D8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94997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B67713-AAE8-A5F9-FEF5-E57A928D4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5E28430-0353-180D-4F84-78B5EF937C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9D9386B-52B9-E46A-674A-2BF01C725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87071-E7D1-4F0D-90F4-41EE461A2EB9}" type="datetimeFigureOut">
              <a:rPr lang="ru-RU" smtClean="0"/>
              <a:t>13.10.2025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A89592F-F752-59D6-0341-C90AE76FD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F09F07D-4403-E811-7FDE-835D39A7B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E335D-A824-47A9-8D1F-31F4C91D8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84801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4F62E2-5BB4-6C72-DD36-C106B0868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1C9EC6F-2B76-E6D0-86F6-4D7CCD21A9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D7644D1-C175-75DC-0146-FE24819415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187B0ED-D620-86A3-3AE8-379467966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87071-E7D1-4F0D-90F4-41EE461A2EB9}" type="datetimeFigureOut">
              <a:rPr lang="ru-RU" smtClean="0"/>
              <a:t>13.10.2025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33CE183-4E63-AA5E-AF10-CE11C1E04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89111AF-D48D-353F-7538-6967D43DC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E335D-A824-47A9-8D1F-31F4C91D8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30518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9932C3-1889-1E84-5CBE-A1F8238AA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5B4B15E-D297-CDE8-66A5-A3FB2D4799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99F4D7D-00C9-4ACA-0E6B-761DEAF428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7574226-3B52-2DDA-B78D-64843B1335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6948F68-1C70-E5DD-1BDB-0C90E45292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F470FD9E-D77D-143D-B3E7-92DFDB8BE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87071-E7D1-4F0D-90F4-41EE461A2EB9}" type="datetimeFigureOut">
              <a:rPr lang="ru-RU" smtClean="0"/>
              <a:t>13.10.2025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3FE4BAA2-C3C7-EB1C-7094-977616282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E303B516-78C4-8E6E-2164-FA0D343F5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E335D-A824-47A9-8D1F-31F4C91D8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18880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ACE819-3AF1-4A66-9DCE-621CEC1C4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3321C4B-44A1-2F11-3BFB-6712C431E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87071-E7D1-4F0D-90F4-41EE461A2EB9}" type="datetimeFigureOut">
              <a:rPr lang="ru-RU" smtClean="0"/>
              <a:t>13.10.2025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F883F47-0BEC-C809-280A-71FB73193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A018B8A-8C7E-FD44-C09C-263870C48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E335D-A824-47A9-8D1F-31F4C91D8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61385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36148117-BD83-99F1-D098-195D1EC21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87071-E7D1-4F0D-90F4-41EE461A2EB9}" type="datetimeFigureOut">
              <a:rPr lang="ru-RU" smtClean="0"/>
              <a:t>13.10.2025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26B00001-66A6-277D-8321-927B57B5D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320873E-F893-5F26-8246-A3DABB6A4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E335D-A824-47A9-8D1F-31F4C91D8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8759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30C5B8-2530-7CDE-E01B-230DD7EEB3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F082F76-BF9E-7C65-FBCE-DD33CE550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DF581E2-1EA4-27DD-CF27-587DEBAEA9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D656D4C-F27A-111C-B718-1DE58374DF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87071-E7D1-4F0D-90F4-41EE461A2EB9}" type="datetimeFigureOut">
              <a:rPr lang="ru-RU" smtClean="0"/>
              <a:t>13.10.2025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60DB45E-5F39-FECC-2BB3-6B944900A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BBD3CDF-DB79-906C-784A-9E7079C81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E335D-A824-47A9-8D1F-31F4C91D8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74117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52F77A-0E3D-1FEE-7177-F2A075972D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5532353B-A509-695E-30F7-2C6C7805B7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585F8F8-1F35-DCA1-3055-2F762FB178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830ABF2-FD6D-E699-7682-2AA189CC9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87071-E7D1-4F0D-90F4-41EE461A2EB9}" type="datetimeFigureOut">
              <a:rPr lang="ru-RU" smtClean="0"/>
              <a:t>13.10.2025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B1D22DC-E2A2-5AEE-782E-B88086B99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266FF9B-B57D-C6A5-2F32-51CB1F505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E335D-A824-47A9-8D1F-31F4C91D8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61119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49781C-8C6D-6388-F200-142ECF284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D0E2EC0-EF13-E5E5-AC5F-20E9BE7686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E31D4C0-514E-3C9C-B236-E30E178D0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87071-E7D1-4F0D-90F4-41EE461A2EB9}" type="datetimeFigureOut">
              <a:rPr lang="ru-RU" smtClean="0"/>
              <a:t>13.10.2025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79F0851-5B49-7114-DE7D-07B0B49FA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75ABB74-AE76-1AA4-B3AD-C3E4451C0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E335D-A824-47A9-8D1F-31F4C91D8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0502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C9AF5B72-580E-EAEB-1B65-0C9EB25683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579CD2E-CCA5-4665-4880-1CBBB0484A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DDED1DD-FB7A-2F9C-5B4D-BF4A408A97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87071-E7D1-4F0D-90F4-41EE461A2EB9}" type="datetimeFigureOut">
              <a:rPr lang="ru-RU" smtClean="0"/>
              <a:t>13.10.2025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E47C08E-E78A-A31F-59AA-B902F8F90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9E6C118-DEBB-ACEB-9C85-A8BFAEBDE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E335D-A824-47A9-8D1F-31F4C91D8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25721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6525A0-E06F-A804-ADBB-0EC2E18D7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3657EDE-CD79-55B2-0D25-5C0101A7F4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671659D-3967-57E1-D293-831530BA26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187071-E7D1-4F0D-90F4-41EE461A2EB9}" type="datetimeFigureOut">
              <a:rPr lang="ru-RU" smtClean="0"/>
              <a:t>13.10.2025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0511CFA-4BEE-B020-86B0-FB8ACCB925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2D38E8E-41F4-034F-39C8-E9CE7B160D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AE335D-A824-47A9-8D1F-31F4C91D8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88742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st.github.com/pacifikus/d4abfcaa0beed1c311a9ec1c1362cebe" TargetMode="External"/><Relationship Id="rId2" Type="http://schemas.openxmlformats.org/officeDocument/2006/relationships/hyperlink" Target="https://gist.github.com/pacifikus/b45dd720ec74d15a8e7e2b9959024c5e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st.github.com/pacifikus/3aff38157f190a6e64c29db5ef021e75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630171" y="1042033"/>
            <a:ext cx="10931658" cy="2736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>
              <a:spcBef>
                <a:spcPts val="0"/>
              </a:spcBef>
            </a:pPr>
            <a:r>
              <a:rPr lang="ru-RU" sz="4400" dirty="0"/>
              <a:t>Машинное обучение</a:t>
            </a:r>
            <a:endParaRPr sz="4400" dirty="0"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ru" dirty="0"/>
              <a:t>Занятие №1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90291F-E119-3FF8-FA6A-EC94746DA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Примерный план курса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AB17BAD-8B47-CE9E-5428-08E8B2110C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06583"/>
            <a:ext cx="10578738" cy="5242559"/>
          </a:xfrm>
        </p:spPr>
        <p:txBody>
          <a:bodyPr>
            <a:normAutofit/>
          </a:bodyPr>
          <a:lstStyle/>
          <a:p>
            <a:r>
              <a:rPr lang="ru-RU" sz="1800" b="1" dirty="0"/>
              <a:t>1. Базовые алгоритмы и техники машинного обучения</a:t>
            </a:r>
          </a:p>
          <a:p>
            <a:pPr lvl="1"/>
            <a:r>
              <a:rPr lang="ru-RU" sz="1400" dirty="0"/>
              <a:t>Типология задач в ML</a:t>
            </a:r>
            <a:endParaRPr lang="ru-RU" sz="1400" b="1" dirty="0"/>
          </a:p>
          <a:p>
            <a:pPr lvl="1"/>
            <a:r>
              <a:rPr lang="ru-RU" sz="1400" dirty="0"/>
              <a:t>1.1 Измерение качества в ML, основные метрики задач классификации и регрессии</a:t>
            </a:r>
          </a:p>
          <a:p>
            <a:pPr lvl="1"/>
            <a:r>
              <a:rPr lang="ru-RU" sz="1400" dirty="0"/>
              <a:t>1.2 Базовые алгоритмы ML: линейная/логистическая регрессии, деревья решений, KNN</a:t>
            </a:r>
          </a:p>
          <a:p>
            <a:pPr lvl="1"/>
            <a:r>
              <a:rPr lang="ru-RU" sz="1400" dirty="0"/>
              <a:t>1.3 Интерпретация базовых алгоритмов</a:t>
            </a:r>
          </a:p>
          <a:p>
            <a:pPr lvl="1"/>
            <a:r>
              <a:rPr lang="ru-RU" sz="1400" dirty="0"/>
              <a:t>1.4 </a:t>
            </a:r>
            <a:r>
              <a:rPr lang="ru-RU" sz="1400" dirty="0" err="1"/>
              <a:t>Кроссвалидация</a:t>
            </a:r>
            <a:endParaRPr lang="ru-RU" sz="1400" dirty="0"/>
          </a:p>
          <a:p>
            <a:pPr lvl="1"/>
            <a:r>
              <a:rPr lang="ru-RU" sz="1400" dirty="0"/>
              <a:t>1.5 Оптимизация </a:t>
            </a:r>
            <a:r>
              <a:rPr lang="ru-RU" sz="1400" dirty="0" err="1"/>
              <a:t>гиперпараметров</a:t>
            </a:r>
            <a:r>
              <a:rPr lang="ru-RU" sz="1400" dirty="0"/>
              <a:t>, </a:t>
            </a:r>
            <a:r>
              <a:rPr lang="ru-RU" sz="1400" dirty="0" err="1"/>
              <a:t>Optuna</a:t>
            </a:r>
            <a:endParaRPr lang="ru-RU" sz="1400" dirty="0"/>
          </a:p>
          <a:p>
            <a:pPr lvl="1"/>
            <a:r>
              <a:rPr lang="ru-RU" sz="1400" dirty="0"/>
              <a:t>1.6 Обеспечение воспроизводимости экспериментов</a:t>
            </a:r>
          </a:p>
          <a:p>
            <a:r>
              <a:rPr lang="ru-RU" sz="1800" b="1" dirty="0"/>
              <a:t>2. Продвинутые алгоритмы машинного обучения</a:t>
            </a:r>
          </a:p>
          <a:p>
            <a:pPr lvl="1"/>
            <a:r>
              <a:rPr lang="ru-RU" sz="1400" dirty="0"/>
              <a:t>2.1 </a:t>
            </a:r>
            <a:r>
              <a:rPr lang="ru-RU" sz="1400" dirty="0" err="1"/>
              <a:t>Cлучайный</a:t>
            </a:r>
            <a:r>
              <a:rPr lang="ru-RU" sz="1400" dirty="0"/>
              <a:t> лес, градиентный </a:t>
            </a:r>
            <a:r>
              <a:rPr lang="ru-RU" sz="1400" dirty="0" err="1"/>
              <a:t>бустинг</a:t>
            </a:r>
            <a:r>
              <a:rPr lang="ru-RU" sz="1400" dirty="0"/>
              <a:t>, </a:t>
            </a:r>
            <a:r>
              <a:rPr lang="ru-RU" sz="1400" dirty="0" err="1"/>
              <a:t>ансамблирование</a:t>
            </a:r>
            <a:endParaRPr lang="ru-RU" sz="1400" dirty="0"/>
          </a:p>
          <a:p>
            <a:pPr lvl="1"/>
            <a:r>
              <a:rPr lang="ru-RU" sz="1400" dirty="0"/>
              <a:t>2.2 Нейросети - </a:t>
            </a:r>
            <a:r>
              <a:rPr lang="ru-RU" sz="1400" dirty="0" err="1"/>
              <a:t>crash-course</a:t>
            </a:r>
            <a:endParaRPr lang="ru-RU" sz="1400" dirty="0"/>
          </a:p>
          <a:p>
            <a:pPr lvl="1"/>
            <a:r>
              <a:rPr lang="ru-RU" sz="1400" dirty="0"/>
              <a:t>2.3 Интерпретация моделей</a:t>
            </a:r>
          </a:p>
          <a:p>
            <a:pPr lvl="1"/>
            <a:r>
              <a:rPr lang="ru-RU" sz="1400" dirty="0"/>
              <a:t>2.4 Transfer </a:t>
            </a:r>
            <a:r>
              <a:rPr lang="ru-RU" sz="1400" dirty="0" err="1"/>
              <a:t>learning</a:t>
            </a:r>
            <a:endParaRPr lang="ru-RU" sz="1400" dirty="0"/>
          </a:p>
          <a:p>
            <a:pPr lvl="1"/>
            <a:r>
              <a:rPr lang="ru-RU" sz="1400" dirty="0"/>
              <a:t>2.5 </a:t>
            </a:r>
            <a:r>
              <a:rPr lang="ru-RU" sz="1400" dirty="0" err="1"/>
              <a:t>AutoML</a:t>
            </a:r>
            <a:endParaRPr lang="ru-RU" sz="1400" dirty="0"/>
          </a:p>
          <a:p>
            <a:pPr lvl="1"/>
            <a:r>
              <a:rPr lang="ru-RU" sz="1400" dirty="0"/>
              <a:t>2.6 Машинное обучение без учителя - кластеризация, поиск аномалий, снижение размерности</a:t>
            </a:r>
          </a:p>
        </p:txBody>
      </p:sp>
    </p:spTree>
    <p:extLst>
      <p:ext uri="{BB962C8B-B14F-4D97-AF65-F5344CB8AC3E}">
        <p14:creationId xmlns:p14="http://schemas.microsoft.com/office/powerpoint/2010/main" val="23361957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90291F-E119-3FF8-FA6A-EC94746DA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 закрыть курс?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AB17BAD-8B47-CE9E-5428-08E8B2110C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162212" cy="4351338"/>
          </a:xfrm>
        </p:spPr>
        <p:txBody>
          <a:bodyPr>
            <a:normAutofit/>
          </a:bodyPr>
          <a:lstStyle/>
          <a:p>
            <a:r>
              <a:rPr lang="ru-RU" dirty="0"/>
              <a:t>3 домашних заданий </a:t>
            </a:r>
            <a:r>
              <a:rPr lang="en-US" dirty="0"/>
              <a:t>–</a:t>
            </a:r>
            <a:r>
              <a:rPr lang="ru-RU" dirty="0"/>
              <a:t> 3*30=90 баллов</a:t>
            </a:r>
          </a:p>
          <a:p>
            <a:r>
              <a:rPr lang="ru-RU" dirty="0"/>
              <a:t>Выступление со своей работой – 10 баллов </a:t>
            </a:r>
          </a:p>
          <a:p>
            <a:endParaRPr lang="ru-RU" dirty="0"/>
          </a:p>
          <a:p>
            <a:r>
              <a:rPr lang="en-US" dirty="0"/>
              <a:t>[</a:t>
            </a:r>
            <a:r>
              <a:rPr lang="ru-RU" dirty="0"/>
              <a:t>70</a:t>
            </a:r>
            <a:r>
              <a:rPr lang="en-US" dirty="0"/>
              <a:t>; </a:t>
            </a:r>
            <a:r>
              <a:rPr lang="ru-RU" dirty="0"/>
              <a:t>10</a:t>
            </a:r>
            <a:r>
              <a:rPr lang="en-US" dirty="0"/>
              <a:t>0] </a:t>
            </a:r>
            <a:r>
              <a:rPr lang="ru-RU" dirty="0"/>
              <a:t>баллов – зачет</a:t>
            </a:r>
            <a:endParaRPr lang="en-US" dirty="0"/>
          </a:p>
          <a:p>
            <a:endParaRPr lang="en-US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304530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90291F-E119-3FF8-FA6A-EC94746DA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за ДЗ такие?</a:t>
            </a:r>
          </a:p>
        </p:txBody>
      </p:sp>
      <p:sp>
        <p:nvSpPr>
          <p:cNvPr id="9" name="Объект 8">
            <a:extLst>
              <a:ext uri="{FF2B5EF4-FFF2-40B4-BE49-F238E27FC236}">
                <a16:creationId xmlns:a16="http://schemas.microsoft.com/office/drawing/2014/main" id="{2FA716EE-80BF-1E03-C31F-8774B85720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>
                <a:hlinkClick r:id="rId2"/>
              </a:rPr>
              <a:t>ДЗ 1</a:t>
            </a:r>
            <a:endParaRPr lang="ru-RU" dirty="0"/>
          </a:p>
          <a:p>
            <a:r>
              <a:rPr lang="ru-RU" dirty="0">
                <a:hlinkClick r:id="rId3"/>
              </a:rPr>
              <a:t>ДЗ 2</a:t>
            </a:r>
            <a:endParaRPr lang="ru-RU" dirty="0"/>
          </a:p>
          <a:p>
            <a:r>
              <a:rPr lang="ru-RU" dirty="0">
                <a:hlinkClick r:id="rId4"/>
              </a:rPr>
              <a:t>ДЗ 3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489348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90291F-E119-3FF8-FA6A-EC94746DA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 сдавать ДЗ?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AB17BAD-8B47-CE9E-5428-08E8B2110C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700658" cy="4351338"/>
          </a:xfrm>
        </p:spPr>
        <p:txBody>
          <a:bodyPr>
            <a:normAutofit/>
          </a:bodyPr>
          <a:lstStyle/>
          <a:p>
            <a:r>
              <a:rPr lang="ru-RU" dirty="0"/>
              <a:t>Создать приватный репозиторий на </a:t>
            </a:r>
            <a:r>
              <a:rPr lang="en-US" dirty="0"/>
              <a:t>GitHub</a:t>
            </a:r>
          </a:p>
          <a:p>
            <a:r>
              <a:rPr lang="ru-RU" dirty="0"/>
              <a:t>Дать доступ </a:t>
            </a:r>
            <a:r>
              <a:rPr lang="en-US" dirty="0"/>
              <a:t>@pacifikus</a:t>
            </a:r>
          </a:p>
          <a:p>
            <a:r>
              <a:rPr lang="ru-RU" dirty="0"/>
              <a:t>Каждая домашняя работа –</a:t>
            </a:r>
            <a:r>
              <a:rPr lang="en-US" dirty="0"/>
              <a:t> PR </a:t>
            </a:r>
            <a:r>
              <a:rPr lang="ru-RU" dirty="0"/>
              <a:t>в отдельную ветку </a:t>
            </a:r>
            <a:r>
              <a:rPr lang="en-US" dirty="0" err="1"/>
              <a:t>hw_n</a:t>
            </a:r>
            <a:endParaRPr lang="en-US" dirty="0"/>
          </a:p>
          <a:p>
            <a:r>
              <a:rPr lang="ru-RU" dirty="0"/>
              <a:t>Добавить </a:t>
            </a:r>
            <a:r>
              <a:rPr lang="en-US"/>
              <a:t>@pacifikus </a:t>
            </a:r>
            <a:r>
              <a:rPr lang="ru-RU" dirty="0"/>
              <a:t>как </a:t>
            </a:r>
            <a:r>
              <a:rPr lang="ru-RU" dirty="0" err="1"/>
              <a:t>ревьювера</a:t>
            </a:r>
            <a:endParaRPr lang="ru-RU" dirty="0"/>
          </a:p>
          <a:p>
            <a:r>
              <a:rPr lang="ru-RU" dirty="0"/>
              <a:t>Дождаться ревью, если все </a:t>
            </a:r>
            <a:r>
              <a:rPr lang="ru-RU" dirty="0" err="1"/>
              <a:t>ок</a:t>
            </a:r>
            <a:r>
              <a:rPr lang="ru-RU" dirty="0"/>
              <a:t> – </a:t>
            </a:r>
            <a:r>
              <a:rPr lang="ru-RU" dirty="0" err="1"/>
              <a:t>мержим</a:t>
            </a:r>
            <a:r>
              <a:rPr lang="ru-RU" dirty="0"/>
              <a:t> в </a:t>
            </a:r>
            <a:r>
              <a:rPr lang="en-US" dirty="0"/>
              <a:t>main</a:t>
            </a:r>
            <a:endParaRPr lang="ru-RU" dirty="0"/>
          </a:p>
          <a:p>
            <a:r>
              <a:rPr lang="ru-RU" dirty="0"/>
              <a:t>Если не </a:t>
            </a:r>
            <a:r>
              <a:rPr lang="ru-RU" dirty="0" err="1"/>
              <a:t>ок</a:t>
            </a:r>
            <a:r>
              <a:rPr lang="ru-RU" dirty="0"/>
              <a:t> – вносим исправления и снова отправляем на ревью</a:t>
            </a:r>
          </a:p>
          <a:p>
            <a:endParaRPr lang="ru-RU" dirty="0"/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075999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90291F-E119-3FF8-FA6A-EC94746DA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открытия </a:t>
            </a:r>
            <a:r>
              <a:rPr lang="en-US" dirty="0"/>
              <a:t>PR</a:t>
            </a:r>
            <a:endParaRPr lang="ru-RU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10B0CAC3-374D-F577-35F2-CDA692858F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29080" y="1869168"/>
            <a:ext cx="6733839" cy="4351338"/>
          </a:xfrm>
        </p:spPr>
      </p:pic>
      <p:cxnSp>
        <p:nvCxnSpPr>
          <p:cNvPr id="9" name="Прямая со стрелкой 8">
            <a:extLst>
              <a:ext uri="{FF2B5EF4-FFF2-40B4-BE49-F238E27FC236}">
                <a16:creationId xmlns:a16="http://schemas.microsoft.com/office/drawing/2014/main" id="{0410AAA7-FD48-C51A-BBB3-80390EA7E58A}"/>
              </a:ext>
            </a:extLst>
          </p:cNvPr>
          <p:cNvCxnSpPr>
            <a:cxnSpLocks/>
          </p:cNvCxnSpPr>
          <p:nvPr/>
        </p:nvCxnSpPr>
        <p:spPr>
          <a:xfrm flipV="1">
            <a:off x="2107474" y="2786743"/>
            <a:ext cx="1166949" cy="36576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5D9D221-DA99-8861-159A-B997B22741C2}"/>
              </a:ext>
            </a:extLst>
          </p:cNvPr>
          <p:cNvSpPr txBox="1"/>
          <p:nvPr/>
        </p:nvSpPr>
        <p:spPr>
          <a:xfrm>
            <a:off x="757645" y="3100252"/>
            <a:ext cx="14189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Название </a:t>
            </a:r>
            <a:r>
              <a:rPr lang="en-US" dirty="0"/>
              <a:t>PR</a:t>
            </a:r>
            <a:endParaRPr lang="ru-RU" dirty="0"/>
          </a:p>
        </p:txBody>
      </p:sp>
      <p:cxnSp>
        <p:nvCxnSpPr>
          <p:cNvPr id="13" name="Прямая со стрелкой 12">
            <a:extLst>
              <a:ext uri="{FF2B5EF4-FFF2-40B4-BE49-F238E27FC236}">
                <a16:creationId xmlns:a16="http://schemas.microsoft.com/office/drawing/2014/main" id="{45919DDF-33EF-D4EA-DACB-0A9108FB01D2}"/>
              </a:ext>
            </a:extLst>
          </p:cNvPr>
          <p:cNvCxnSpPr/>
          <p:nvPr/>
        </p:nvCxnSpPr>
        <p:spPr>
          <a:xfrm flipH="1" flipV="1">
            <a:off x="9265920" y="3248297"/>
            <a:ext cx="818605" cy="38317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4205070B-7610-485A-CBFE-5BD03F2CF311}"/>
              </a:ext>
            </a:extLst>
          </p:cNvPr>
          <p:cNvSpPr txBox="1"/>
          <p:nvPr/>
        </p:nvSpPr>
        <p:spPr>
          <a:xfrm>
            <a:off x="10084525" y="3544388"/>
            <a:ext cx="12801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Добавляем </a:t>
            </a:r>
            <a:r>
              <a:rPr lang="ru-RU" dirty="0" err="1"/>
              <a:t>ревьювера</a:t>
            </a:r>
            <a:endParaRPr lang="ru-RU" dirty="0"/>
          </a:p>
        </p:txBody>
      </p:sp>
      <p:cxnSp>
        <p:nvCxnSpPr>
          <p:cNvPr id="18" name="Прямая со стрелкой 17">
            <a:extLst>
              <a:ext uri="{FF2B5EF4-FFF2-40B4-BE49-F238E27FC236}">
                <a16:creationId xmlns:a16="http://schemas.microsoft.com/office/drawing/2014/main" id="{AC92C95A-7850-F4DA-FEBF-2B2029F6CCC0}"/>
              </a:ext>
            </a:extLst>
          </p:cNvPr>
          <p:cNvCxnSpPr/>
          <p:nvPr/>
        </p:nvCxnSpPr>
        <p:spPr>
          <a:xfrm flipV="1">
            <a:off x="2020389" y="3544388"/>
            <a:ext cx="1254034" cy="64633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862754DC-890E-77E2-2A38-456B288D22DC}"/>
              </a:ext>
            </a:extLst>
          </p:cNvPr>
          <p:cNvSpPr txBox="1"/>
          <p:nvPr/>
        </p:nvSpPr>
        <p:spPr>
          <a:xfrm>
            <a:off x="261257" y="4246054"/>
            <a:ext cx="28085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Комментарии по желанию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74F63D4-9B4A-4126-D80D-17D9D4DB38BE}"/>
              </a:ext>
            </a:extLst>
          </p:cNvPr>
          <p:cNvSpPr txBox="1"/>
          <p:nvPr/>
        </p:nvSpPr>
        <p:spPr>
          <a:xfrm>
            <a:off x="3274423" y="642772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ru-RU" b="1" dirty="0"/>
              <a:t>Нужен ли более подробный разбор работы с </a:t>
            </a:r>
            <a:r>
              <a:rPr lang="en-US" b="1" dirty="0"/>
              <a:t>git/</a:t>
            </a:r>
            <a:r>
              <a:rPr lang="en-US" b="1" dirty="0" err="1"/>
              <a:t>github</a:t>
            </a:r>
            <a:r>
              <a:rPr lang="en-US" b="1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2634651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90291F-E119-3FF8-FA6A-EC94746DA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Когда сдавать ДЗ?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AB17BAD-8B47-CE9E-5428-08E8B2110C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613572" cy="4351338"/>
          </a:xfrm>
        </p:spPr>
        <p:txBody>
          <a:bodyPr>
            <a:normAutofit/>
          </a:bodyPr>
          <a:lstStyle/>
          <a:p>
            <a:r>
              <a:rPr lang="ru-RU" dirty="0"/>
              <a:t>Мягкий дедлайн – неделя с момента выдачи ДЗ – полный балл</a:t>
            </a:r>
          </a:p>
          <a:p>
            <a:r>
              <a:rPr lang="ru-RU" dirty="0"/>
              <a:t>Жесткий дедлайн – 2 недели с момента выдачи ДЗ – 50% баллов</a:t>
            </a:r>
          </a:p>
          <a:p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Непредвиденные обстоятельства обсуждаются отдельно</a:t>
            </a:r>
          </a:p>
        </p:txBody>
      </p:sp>
    </p:spTree>
    <p:extLst>
      <p:ext uri="{BB962C8B-B14F-4D97-AF65-F5344CB8AC3E}">
        <p14:creationId xmlns:p14="http://schemas.microsoft.com/office/powerpoint/2010/main" val="25171716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90291F-E119-3FF8-FA6A-EC94746DA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Коммуникация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AB17BAD-8B47-CE9E-5428-08E8B2110C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613572" cy="4351338"/>
          </a:xfrm>
        </p:spPr>
        <p:txBody>
          <a:bodyPr>
            <a:normAutofit/>
          </a:bodyPr>
          <a:lstStyle/>
          <a:p>
            <a:r>
              <a:rPr lang="ru-RU" dirty="0"/>
              <a:t>Чат в </a:t>
            </a:r>
            <a:r>
              <a:rPr lang="en-US" dirty="0" err="1"/>
              <a:t>tg</a:t>
            </a:r>
            <a:r>
              <a:rPr lang="ru-RU" dirty="0"/>
              <a:t> для любых вопросов по курсу</a:t>
            </a:r>
          </a:p>
          <a:p>
            <a:r>
              <a:rPr lang="ru-RU" dirty="0"/>
              <a:t>Можно также писать в </a:t>
            </a:r>
            <a:r>
              <a:rPr lang="ru-RU" dirty="0" err="1"/>
              <a:t>личку</a:t>
            </a:r>
            <a:r>
              <a:rPr lang="ru-RU" dirty="0"/>
              <a:t>, если не хочется в чат</a:t>
            </a:r>
          </a:p>
        </p:txBody>
      </p:sp>
    </p:spTree>
    <p:extLst>
      <p:ext uri="{BB962C8B-B14F-4D97-AF65-F5344CB8AC3E}">
        <p14:creationId xmlns:p14="http://schemas.microsoft.com/office/powerpoint/2010/main" val="33858232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90291F-E119-3FF8-FA6A-EC94746DA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Синхронизация ожиданий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AB17BAD-8B47-CE9E-5428-08E8B2110C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292841" cy="4351338"/>
          </a:xfrm>
        </p:spPr>
        <p:txBody>
          <a:bodyPr/>
          <a:lstStyle/>
          <a:p>
            <a:pPr marL="514350" indent="-514350">
              <a:buAutoNum type="arabicPeriod"/>
            </a:pPr>
            <a:r>
              <a:rPr lang="ru-RU" dirty="0"/>
              <a:t>Как вы оцениваете свой уровень в </a:t>
            </a:r>
            <a:r>
              <a:rPr lang="en-US" dirty="0"/>
              <a:t>ML?</a:t>
            </a:r>
          </a:p>
        </p:txBody>
      </p:sp>
    </p:spTree>
    <p:extLst>
      <p:ext uri="{BB962C8B-B14F-4D97-AF65-F5344CB8AC3E}">
        <p14:creationId xmlns:p14="http://schemas.microsoft.com/office/powerpoint/2010/main" val="23134641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0AFE6B-6A74-CCFC-2ADA-9BF2C0D101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6C4B78-88A3-A47F-A275-F9C18479B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Синхронизация ожиданий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DF61A78-3167-A6B4-835C-FEB001ACC4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292841" cy="4351338"/>
          </a:xfrm>
        </p:spPr>
        <p:txBody>
          <a:bodyPr/>
          <a:lstStyle/>
          <a:p>
            <a:pPr marL="514350" indent="-514350">
              <a:buAutoNum type="arabicPeriod"/>
            </a:pPr>
            <a:r>
              <a:rPr lang="ru-RU" dirty="0"/>
              <a:t>Как вы оцениваете свой уровень в </a:t>
            </a:r>
            <a:r>
              <a:rPr lang="en-US" dirty="0"/>
              <a:t>ML?</a:t>
            </a:r>
          </a:p>
          <a:p>
            <a:pPr marL="514350" indent="-514350">
              <a:buAutoNum type="arabicPeriod"/>
            </a:pPr>
            <a:r>
              <a:rPr lang="ru-RU" dirty="0"/>
              <a:t>Какая тема кажется наиболее интересной? Что хотелось бы изучить?</a:t>
            </a:r>
          </a:p>
        </p:txBody>
      </p:sp>
    </p:spTree>
    <p:extLst>
      <p:ext uri="{BB962C8B-B14F-4D97-AF65-F5344CB8AC3E}">
        <p14:creationId xmlns:p14="http://schemas.microsoft.com/office/powerpoint/2010/main" val="1798946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D5BCB0-88D9-457E-DFDC-097E37235B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36FF3C-EFE4-0E03-6217-39FF052C3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Синхронизация ожиданий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06ED380-C9BF-35E2-3B72-1A2409218C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292841" cy="4351338"/>
          </a:xfrm>
        </p:spPr>
        <p:txBody>
          <a:bodyPr/>
          <a:lstStyle/>
          <a:p>
            <a:pPr marL="514350" indent="-514350">
              <a:buAutoNum type="arabicPeriod"/>
            </a:pPr>
            <a:r>
              <a:rPr lang="ru-RU" dirty="0"/>
              <a:t>Как вы оцениваете свой уровень в </a:t>
            </a:r>
            <a:r>
              <a:rPr lang="en-US" dirty="0"/>
              <a:t>ML?</a:t>
            </a:r>
          </a:p>
          <a:p>
            <a:pPr marL="514350" indent="-514350">
              <a:buAutoNum type="arabicPeriod"/>
            </a:pPr>
            <a:r>
              <a:rPr lang="ru-RU" dirty="0"/>
              <a:t>Какая тема кажется наиболее интересной? Что хотелось бы изучить?</a:t>
            </a:r>
          </a:p>
          <a:p>
            <a:pPr marL="514350" indent="-514350">
              <a:buAutoNum type="arabicPeriod"/>
            </a:pPr>
            <a:r>
              <a:rPr lang="ru-RU" dirty="0"/>
              <a:t>Какая тема выглядит максимально знакомой?</a:t>
            </a:r>
          </a:p>
        </p:txBody>
      </p:sp>
    </p:spTree>
    <p:extLst>
      <p:ext uri="{BB962C8B-B14F-4D97-AF65-F5344CB8AC3E}">
        <p14:creationId xmlns:p14="http://schemas.microsoft.com/office/powerpoint/2010/main" val="39987951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EE2E29-1134-9B82-818D-26ED52657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0340BD-BCAE-E43F-01CE-867B53D6C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Синхронизация ожиданий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5E1C189-BEC8-B8DD-AF3E-CF7652F81C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292841" cy="4351338"/>
          </a:xfrm>
        </p:spPr>
        <p:txBody>
          <a:bodyPr/>
          <a:lstStyle/>
          <a:p>
            <a:pPr marL="514350" indent="-514350">
              <a:buAutoNum type="arabicPeriod"/>
            </a:pPr>
            <a:r>
              <a:rPr lang="ru-RU" dirty="0"/>
              <a:t>Как вы оцениваете свой уровень в </a:t>
            </a:r>
            <a:r>
              <a:rPr lang="en-US" dirty="0"/>
              <a:t>ML?</a:t>
            </a:r>
          </a:p>
          <a:p>
            <a:pPr marL="514350" indent="-514350">
              <a:buAutoNum type="arabicPeriod"/>
            </a:pPr>
            <a:r>
              <a:rPr lang="ru-RU" dirty="0"/>
              <a:t>Какая тема кажется наиболее интересной? Что хотелось бы изучить?</a:t>
            </a:r>
          </a:p>
          <a:p>
            <a:pPr marL="514350" indent="-514350">
              <a:buAutoNum type="arabicPeriod"/>
            </a:pPr>
            <a:r>
              <a:rPr lang="ru-RU" dirty="0"/>
              <a:t>Какая тема выглядит максимально знакомой?</a:t>
            </a:r>
          </a:p>
          <a:p>
            <a:pPr marL="514350" indent="-514350">
              <a:buAutoNum type="arabicPeriod"/>
            </a:pPr>
            <a:r>
              <a:rPr lang="ru-RU" dirty="0"/>
              <a:t>Какой уровень детализации </a:t>
            </a:r>
            <a:r>
              <a:rPr lang="en-US" dirty="0"/>
              <a:t>ML </a:t>
            </a:r>
            <a:r>
              <a:rPr lang="ru-RU" dirty="0"/>
              <a:t>хочется видеть на курсе?</a:t>
            </a:r>
          </a:p>
        </p:txBody>
      </p:sp>
    </p:spTree>
    <p:extLst>
      <p:ext uri="{BB962C8B-B14F-4D97-AF65-F5344CB8AC3E}">
        <p14:creationId xmlns:p14="http://schemas.microsoft.com/office/powerpoint/2010/main" val="303552022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527</TotalTime>
  <Words>354</Words>
  <Application>Microsoft Office PowerPoint</Application>
  <PresentationFormat>Широкоэкранный</PresentationFormat>
  <Paragraphs>66</Paragraphs>
  <Slides>12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Тема Office</vt:lpstr>
      <vt:lpstr>Машинное обучение</vt:lpstr>
      <vt:lpstr>Примерный план курса</vt:lpstr>
      <vt:lpstr>Как закрыть курс?</vt:lpstr>
      <vt:lpstr>Что за ДЗ такие?</vt:lpstr>
      <vt:lpstr>Как сдавать ДЗ?</vt:lpstr>
      <vt:lpstr>Пример открытия PR</vt:lpstr>
      <vt:lpstr>Когда сдавать ДЗ?</vt:lpstr>
      <vt:lpstr>Коммуникация</vt:lpstr>
      <vt:lpstr>Синхронизация ожиданий</vt:lpstr>
      <vt:lpstr>Синхронизация ожиданий</vt:lpstr>
      <vt:lpstr>Синхронизация ожиданий</vt:lpstr>
      <vt:lpstr>Синхронизация ожиданий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Типология задач машинного обучения</dc:title>
  <dc:creator>Кристина Желтова</dc:creator>
  <cp:lastModifiedBy>Кристина Желтова</cp:lastModifiedBy>
  <cp:revision>95</cp:revision>
  <dcterms:created xsi:type="dcterms:W3CDTF">2023-01-09T13:10:05Z</dcterms:created>
  <dcterms:modified xsi:type="dcterms:W3CDTF">2025-10-12T19:23:30Z</dcterms:modified>
</cp:coreProperties>
</file>